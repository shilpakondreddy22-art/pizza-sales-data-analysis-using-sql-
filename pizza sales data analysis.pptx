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322" r:id="rId2"/>
    <p:sldId id="324" r:id="rId3"/>
    <p:sldId id="328" r:id="rId4"/>
    <p:sldId id="329" r:id="rId5"/>
    <p:sldId id="330" r:id="rId6"/>
    <p:sldId id="345" r:id="rId7"/>
    <p:sldId id="346" r:id="rId8"/>
    <p:sldId id="347" r:id="rId9"/>
    <p:sldId id="348" r:id="rId10"/>
    <p:sldId id="350" r:id="rId11"/>
    <p:sldId id="351" r:id="rId12"/>
    <p:sldId id="352" r:id="rId13"/>
    <p:sldId id="349" r:id="rId14"/>
    <p:sldId id="353" r:id="rId15"/>
    <p:sldId id="354" r:id="rId16"/>
    <p:sldId id="355" r:id="rId17"/>
    <p:sldId id="331" r:id="rId18"/>
    <p:sldId id="332" r:id="rId19"/>
    <p:sldId id="337" r:id="rId20"/>
    <p:sldId id="297" r:id="rId21"/>
  </p:sldIdLst>
  <p:sldSz cx="12190413" cy="6859588"/>
  <p:notesSz cx="6858000" cy="9144000"/>
  <p:embeddedFontLst>
    <p:embeddedFont>
      <p:font typeface="굴림체" panose="020B0609000101010101" pitchFamily="49" charset="-127"/>
      <p:regular r:id="rId24"/>
    </p:embeddedFont>
    <p:embeddedFont>
      <p:font typeface="맑은 고딕" panose="020B0503020000020004" pitchFamily="34" charset="-127"/>
      <p:regular r:id="rId25"/>
      <p:bold r:id="rId26"/>
    </p:embeddedFont>
    <p:embeddedFont>
      <p:font typeface="Noto Sans" panose="020B0502040504020204" pitchFamily="34" charset="0"/>
      <p:regular r:id="rId27"/>
      <p:bold r:id="rId28"/>
    </p:embeddedFont>
  </p:embeddedFontLst>
  <p:defaultTextStyle>
    <a:defPPr>
      <a:defRPr lang="ko-KR"/>
    </a:defPPr>
    <a:lvl1pPr marL="0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7845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95690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93535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91380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89225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87070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84916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82761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6B72115-9A76-4A8E-8827-553D892231FF}">
          <p14:sldIdLst>
            <p14:sldId id="322"/>
            <p14:sldId id="324"/>
            <p14:sldId id="328"/>
            <p14:sldId id="329"/>
            <p14:sldId id="330"/>
            <p14:sldId id="345"/>
            <p14:sldId id="346"/>
            <p14:sldId id="347"/>
            <p14:sldId id="348"/>
            <p14:sldId id="350"/>
            <p14:sldId id="351"/>
            <p14:sldId id="352"/>
            <p14:sldId id="349"/>
            <p14:sldId id="353"/>
            <p14:sldId id="354"/>
            <p14:sldId id="355"/>
            <p14:sldId id="331"/>
            <p14:sldId id="332"/>
            <p14:sldId id="337"/>
            <p14:sldId id="29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161">
          <p15:clr>
            <a:srgbClr val="A4A3A4"/>
          </p15:clr>
        </p15:guide>
        <p15:guide id="4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2222"/>
    <a:srgbClr val="FFCE33"/>
    <a:srgbClr val="882406"/>
    <a:srgbClr val="00A9B0"/>
    <a:srgbClr val="013662"/>
    <a:srgbClr val="E93440"/>
    <a:srgbClr val="BFBFBF"/>
    <a:srgbClr val="667552"/>
    <a:srgbClr val="CC9900"/>
    <a:srgbClr val="5460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494" autoAdjust="0"/>
    <p:restoredTop sz="94792" autoAdjust="0"/>
  </p:normalViewPr>
  <p:slideViewPr>
    <p:cSldViewPr>
      <p:cViewPr varScale="1">
        <p:scale>
          <a:sx n="82" d="100"/>
          <a:sy n="82" d="100"/>
        </p:scale>
        <p:origin x="883" y="72"/>
      </p:cViewPr>
      <p:guideLst>
        <p:guide orient="horz" pos="2160"/>
        <p:guide pos="2880"/>
        <p:guide orient="horz" pos="2161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-3870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4.fntdata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CCFBE2-2B8D-499C-81C9-2CD5B3EB8E93}" type="datetimeFigureOut">
              <a:rPr lang="ko-KR" altLang="en-US" smtClean="0"/>
              <a:pPr/>
              <a:t>2025-11-17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54DD7E-3179-445A-81DB-781C4554AFF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95366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545AC5-813F-4ED1-B011-8EA17CB93331}" type="datetimeFigureOut">
              <a:rPr lang="ko-KR" altLang="en-US" smtClean="0"/>
              <a:pPr/>
              <a:t>2025-11-17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504B90-27FD-422C-8CC6-2AADAD122D0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707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95690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497845" algn="l" defTabSz="995690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995690" algn="l" defTabSz="995690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493535" algn="l" defTabSz="995690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1991380" algn="l" defTabSz="995690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489225" algn="l" defTabSz="995690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987070" algn="l" defTabSz="995690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484916" algn="l" defTabSz="995690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982761" algn="l" defTabSz="995690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04B90-27FD-422C-8CC6-2AADAD122D08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39106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40"/>
            <a:ext cx="12190413" cy="6857107"/>
          </a:xfrm>
          <a:prstGeom prst="rect">
            <a:avLst/>
          </a:prstGeom>
        </p:spPr>
      </p:pic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ED3D6733-6F27-4404-AB51-585418F146E5}" type="datetimeFigureOut">
              <a:rPr lang="ko-KR" altLang="en-US" smtClean="0"/>
              <a:pPr/>
              <a:t>2025-11-17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EE6BC638-39B7-4287-91A7-2A3DDA57329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5" name="제목 1"/>
          <p:cNvSpPr>
            <a:spLocks noGrp="1"/>
          </p:cNvSpPr>
          <p:nvPr>
            <p:ph type="ctrTitle" hasCustomPrompt="1"/>
          </p:nvPr>
        </p:nvSpPr>
        <p:spPr>
          <a:xfrm>
            <a:off x="5534000" y="2453687"/>
            <a:ext cx="5415634" cy="2045207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9569" tIns="49785" rIns="99569" bIns="49785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ctr" defTabSz="99569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굴림체" pitchFamily="49" charset="-127"/>
              <a:buNone/>
              <a:defRPr lang="ko-KR" altLang="en-US" sz="5800" kern="1200" baseline="0" dirty="0">
                <a:solidFill>
                  <a:schemeClr val="bg1"/>
                </a:solidFill>
                <a:effectLst/>
                <a:latin typeface="+mj-lt"/>
                <a:ea typeface="맑은 고딕" pitchFamily="50" charset="-127"/>
                <a:cs typeface="+mj-cs"/>
              </a:defRPr>
            </a:lvl1pPr>
          </a:lstStyle>
          <a:p>
            <a:r>
              <a:rPr lang="ko-KR" altLang="en-US" dirty="0"/>
              <a:t>제목을</a:t>
            </a:r>
            <a:r>
              <a:rPr lang="en-US" altLang="ko-KR" dirty="0"/>
              <a:t> </a:t>
            </a:r>
            <a:r>
              <a:rPr lang="ko-KR" altLang="en-US" dirty="0"/>
              <a:t>입력하시오</a:t>
            </a:r>
          </a:p>
        </p:txBody>
      </p:sp>
      <p:sp>
        <p:nvSpPr>
          <p:cNvPr id="14" name="부제목 2"/>
          <p:cNvSpPr>
            <a:spLocks noGrp="1"/>
          </p:cNvSpPr>
          <p:nvPr>
            <p:ph type="subTitle" idx="1"/>
          </p:nvPr>
        </p:nvSpPr>
        <p:spPr>
          <a:xfrm>
            <a:off x="5534000" y="4293890"/>
            <a:ext cx="5415634" cy="811138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9569" tIns="49785" rIns="99569" bIns="49785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ctr" defTabSz="99569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굴림체" pitchFamily="49" charset="-127"/>
              <a:buNone/>
              <a:defRPr lang="ko-KR" altLang="en-US" sz="1200" kern="1200" baseline="0" dirty="0">
                <a:solidFill>
                  <a:schemeClr val="bg1"/>
                </a:solidFill>
                <a:effectLst/>
                <a:latin typeface="+mj-lt"/>
                <a:ea typeface="맑은 고딕" pitchFamily="50" charset="-127"/>
                <a:cs typeface="+mj-cs"/>
              </a:defRPr>
            </a:lvl1pPr>
            <a:lvl2pPr marL="4978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56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935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913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89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870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849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827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40"/>
            <a:ext cx="12190413" cy="6857107"/>
          </a:xfrm>
          <a:prstGeom prst="rect">
            <a:avLst/>
          </a:prstGeom>
        </p:spPr>
      </p:pic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D6733-6F27-4404-AB51-585418F146E5}" type="datetimeFigureOut">
              <a:rPr lang="ko-KR" altLang="en-US" smtClean="0"/>
              <a:pPr/>
              <a:t>2025-11-17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C638-39B7-4287-91A7-2A3DDA57329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0" y="1240"/>
            <a:ext cx="12190413" cy="6857107"/>
          </a:xfrm>
          <a:prstGeom prst="rect">
            <a:avLst/>
          </a:prstGeom>
        </p:spPr>
      </p:pic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D6733-6F27-4404-AB51-585418F146E5}" type="datetimeFigureOut">
              <a:rPr lang="ko-KR" altLang="en-US" smtClean="0"/>
              <a:pPr/>
              <a:t>2025-11-17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C638-39B7-4287-91A7-2A3DDA57329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40"/>
            <a:ext cx="12190413" cy="6857107"/>
          </a:xfrm>
          <a:prstGeom prst="rect">
            <a:avLst/>
          </a:prstGeom>
        </p:spPr>
      </p:pic>
      <p:sp>
        <p:nvSpPr>
          <p:cNvPr id="15" name="내용 개체 틀 2"/>
          <p:cNvSpPr>
            <a:spLocks noGrp="1"/>
          </p:cNvSpPr>
          <p:nvPr>
            <p:ph idx="1" hasCustomPrompt="1"/>
          </p:nvPr>
        </p:nvSpPr>
        <p:spPr>
          <a:xfrm>
            <a:off x="609521" y="1485579"/>
            <a:ext cx="10971372" cy="4824535"/>
          </a:xfrm>
        </p:spPr>
        <p:txBody>
          <a:bodyPr>
            <a:normAutofit/>
          </a:bodyPr>
          <a:lstStyle>
            <a:lvl1pPr algn="l">
              <a:buNone/>
              <a:defRPr sz="2000" i="1" baseline="0">
                <a:solidFill>
                  <a:schemeClr val="bg1">
                    <a:lumMod val="50000"/>
                  </a:schemeClr>
                </a:solidFill>
                <a:latin typeface="+mj-lt"/>
                <a:ea typeface="맑은 고딕" pitchFamily="50" charset="-127"/>
              </a:defRPr>
            </a:lvl1pPr>
            <a:lvl2pPr algn="l">
              <a:buNone/>
              <a:defRPr sz="2500" baseline="0">
                <a:solidFill>
                  <a:schemeClr val="tx1">
                    <a:lumMod val="75000"/>
                    <a:lumOff val="25000"/>
                  </a:schemeClr>
                </a:solidFill>
                <a:latin typeface="Noto Sans" pitchFamily="34" charset="0"/>
                <a:ea typeface="맑은 고딕" pitchFamily="50" charset="-127"/>
              </a:defRPr>
            </a:lvl2pPr>
            <a:lvl3pPr algn="l">
              <a:buNone/>
              <a:defRPr sz="2500" baseline="0">
                <a:solidFill>
                  <a:schemeClr val="tx1">
                    <a:lumMod val="75000"/>
                    <a:lumOff val="25000"/>
                  </a:schemeClr>
                </a:solidFill>
                <a:latin typeface="Noto Sans" pitchFamily="34" charset="0"/>
                <a:ea typeface="맑은 고딕" pitchFamily="50" charset="-127"/>
              </a:defRPr>
            </a:lvl3pPr>
            <a:lvl4pPr algn="l">
              <a:buNone/>
              <a:defRPr sz="2500" baseline="0">
                <a:solidFill>
                  <a:schemeClr val="tx1">
                    <a:lumMod val="75000"/>
                    <a:lumOff val="25000"/>
                  </a:schemeClr>
                </a:solidFill>
                <a:latin typeface="Noto Sans" pitchFamily="34" charset="0"/>
                <a:ea typeface="맑은 고딕" pitchFamily="50" charset="-127"/>
              </a:defRPr>
            </a:lvl4pPr>
            <a:lvl5pPr algn="l">
              <a:buNone/>
              <a:defRPr sz="2500" baseline="0">
                <a:solidFill>
                  <a:schemeClr val="tx1">
                    <a:lumMod val="75000"/>
                    <a:lumOff val="25000"/>
                  </a:schemeClr>
                </a:solidFill>
                <a:latin typeface="Noto Sans" pitchFamily="34" charset="0"/>
                <a:ea typeface="맑은 고딕" pitchFamily="50" charset="-127"/>
              </a:defRPr>
            </a:lvl5pPr>
          </a:lstStyle>
          <a:p>
            <a:pPr lvl="0"/>
            <a:r>
              <a:rPr lang="en-US" altLang="ko-KR" dirty="0"/>
              <a:t>Replaced with your own text</a:t>
            </a:r>
            <a:endParaRPr lang="ko-KR" altLang="en-US" dirty="0"/>
          </a:p>
        </p:txBody>
      </p:sp>
      <p:sp>
        <p:nvSpPr>
          <p:cNvPr id="14" name="제목 1"/>
          <p:cNvSpPr>
            <a:spLocks noGrp="1"/>
          </p:cNvSpPr>
          <p:nvPr>
            <p:ph type="title"/>
          </p:nvPr>
        </p:nvSpPr>
        <p:spPr>
          <a:xfrm>
            <a:off x="609520" y="254777"/>
            <a:ext cx="10971373" cy="798753"/>
          </a:xfrm>
        </p:spPr>
        <p:txBody>
          <a:bodyPr vert="horz" lIns="99569" tIns="49785" rIns="99569" bIns="49785" rtlCol="0" anchor="ctr">
            <a:normAutofit/>
          </a:bodyPr>
          <a:lstStyle>
            <a:lvl1pPr algn="l" defTabSz="995690" rtl="0" eaLnBrk="1" latinLnBrk="1" hangingPunct="1">
              <a:spcBef>
                <a:spcPct val="0"/>
              </a:spcBef>
              <a:buNone/>
              <a:defRPr lang="ko-KR" altLang="en-US" sz="4000" b="1" kern="1200" baseline="0" dirty="0">
                <a:solidFill>
                  <a:schemeClr val="bg1"/>
                </a:solidFill>
                <a:effectLst/>
                <a:latin typeface="+mj-lt"/>
                <a:ea typeface="맑은 고딕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2" name="날짜 개체 틀 3"/>
          <p:cNvSpPr>
            <a:spLocks noGrp="1"/>
          </p:cNvSpPr>
          <p:nvPr>
            <p:ph type="dt" sz="half" idx="10"/>
          </p:nvPr>
        </p:nvSpPr>
        <p:spPr>
          <a:xfrm>
            <a:off x="609521" y="6502342"/>
            <a:ext cx="2844430" cy="220692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fld id="{ED3D6733-6F27-4404-AB51-585418F146E5}" type="datetimeFigureOut">
              <a:rPr lang="ko-KR" altLang="en-US" smtClean="0"/>
              <a:pPr/>
              <a:t>2025-11-17</a:t>
            </a:fld>
            <a:endParaRPr lang="ko-KR" altLang="en-US"/>
          </a:p>
        </p:txBody>
      </p:sp>
      <p:sp>
        <p:nvSpPr>
          <p:cNvPr id="13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165059" y="6502342"/>
            <a:ext cx="3860297" cy="220692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endParaRPr lang="ko-KR" altLang="en-US"/>
          </a:p>
        </p:txBody>
      </p:sp>
      <p:sp>
        <p:nvSpPr>
          <p:cNvPr id="1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736463" y="6502342"/>
            <a:ext cx="2844430" cy="220692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fld id="{EE6BC638-39B7-4287-91A7-2A3DDA57329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40"/>
            <a:ext cx="12190413" cy="6857107"/>
          </a:xfrm>
          <a:prstGeom prst="rect">
            <a:avLst/>
          </a:prstGeom>
        </p:spPr>
      </p:pic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09521" y="6502342"/>
            <a:ext cx="2844430" cy="220692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fld id="{ED3D6733-6F27-4404-AB51-585418F146E5}" type="datetimeFigureOut">
              <a:rPr lang="ko-KR" altLang="en-US" smtClean="0"/>
              <a:pPr/>
              <a:t>2025-11-17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165059" y="6502342"/>
            <a:ext cx="3860297" cy="220692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736463" y="6502342"/>
            <a:ext cx="2844430" cy="220692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fld id="{EE6BC638-39B7-4287-91A7-2A3DDA57329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5" name="제목 1"/>
          <p:cNvSpPr>
            <a:spLocks noGrp="1"/>
          </p:cNvSpPr>
          <p:nvPr>
            <p:ph type="title"/>
          </p:nvPr>
        </p:nvSpPr>
        <p:spPr>
          <a:xfrm>
            <a:off x="609521" y="254777"/>
            <a:ext cx="10971372" cy="798753"/>
          </a:xfrm>
        </p:spPr>
        <p:txBody>
          <a:bodyPr vert="horz" lIns="99569" tIns="49785" rIns="99569" bIns="49785" rtlCol="0" anchor="ctr">
            <a:normAutofit/>
          </a:bodyPr>
          <a:lstStyle>
            <a:lvl1pPr algn="l" defTabSz="995690" rtl="0" eaLnBrk="1" latinLnBrk="1" hangingPunct="1">
              <a:spcBef>
                <a:spcPct val="0"/>
              </a:spcBef>
              <a:buNone/>
              <a:defRPr lang="ko-KR" altLang="en-US" sz="4000" b="1" kern="1200" baseline="0" dirty="0">
                <a:solidFill>
                  <a:schemeClr val="accent6">
                    <a:lumMod val="50000"/>
                  </a:schemeClr>
                </a:solidFill>
                <a:effectLst/>
                <a:latin typeface="+mj-lt"/>
                <a:ea typeface="맑은 고딕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6" name="내용 개체 틀 2"/>
          <p:cNvSpPr>
            <a:spLocks noGrp="1"/>
          </p:cNvSpPr>
          <p:nvPr>
            <p:ph idx="1" hasCustomPrompt="1"/>
          </p:nvPr>
        </p:nvSpPr>
        <p:spPr>
          <a:xfrm>
            <a:off x="609521" y="1485578"/>
            <a:ext cx="10971372" cy="4824535"/>
          </a:xfrm>
        </p:spPr>
        <p:txBody>
          <a:bodyPr>
            <a:normAutofit/>
          </a:bodyPr>
          <a:lstStyle>
            <a:lvl1pPr algn="l">
              <a:buNone/>
              <a:defRPr sz="2000" i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맑은 고딕" pitchFamily="50" charset="-127"/>
              </a:defRPr>
            </a:lvl1pPr>
            <a:lvl2pPr algn="l">
              <a:buNone/>
              <a:defRPr sz="2500" baseline="0">
                <a:solidFill>
                  <a:schemeClr val="tx1">
                    <a:lumMod val="75000"/>
                    <a:lumOff val="25000"/>
                  </a:schemeClr>
                </a:solidFill>
                <a:latin typeface="Noto Sans" pitchFamily="34" charset="0"/>
                <a:ea typeface="맑은 고딕" pitchFamily="50" charset="-127"/>
              </a:defRPr>
            </a:lvl2pPr>
            <a:lvl3pPr algn="l">
              <a:buNone/>
              <a:defRPr sz="2500" baseline="0">
                <a:solidFill>
                  <a:schemeClr val="tx1">
                    <a:lumMod val="75000"/>
                    <a:lumOff val="25000"/>
                  </a:schemeClr>
                </a:solidFill>
                <a:latin typeface="Noto Sans" pitchFamily="34" charset="0"/>
                <a:ea typeface="맑은 고딕" pitchFamily="50" charset="-127"/>
              </a:defRPr>
            </a:lvl3pPr>
            <a:lvl4pPr algn="l">
              <a:buNone/>
              <a:defRPr sz="2500" baseline="0">
                <a:solidFill>
                  <a:schemeClr val="tx1">
                    <a:lumMod val="75000"/>
                    <a:lumOff val="25000"/>
                  </a:schemeClr>
                </a:solidFill>
                <a:latin typeface="Noto Sans" pitchFamily="34" charset="0"/>
                <a:ea typeface="맑은 고딕" pitchFamily="50" charset="-127"/>
              </a:defRPr>
            </a:lvl4pPr>
            <a:lvl5pPr algn="l">
              <a:buNone/>
              <a:defRPr sz="2500" baseline="0">
                <a:solidFill>
                  <a:schemeClr val="tx1">
                    <a:lumMod val="75000"/>
                    <a:lumOff val="25000"/>
                  </a:schemeClr>
                </a:solidFill>
                <a:latin typeface="Noto Sans" pitchFamily="34" charset="0"/>
                <a:ea typeface="맑은 고딕" pitchFamily="50" charset="-127"/>
              </a:defRPr>
            </a:lvl5pPr>
          </a:lstStyle>
          <a:p>
            <a:pPr lvl="0"/>
            <a:r>
              <a:rPr lang="en-US" altLang="ko-KR" dirty="0"/>
              <a:t>Replaced with your own text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40"/>
            <a:ext cx="12190413" cy="6857107"/>
          </a:xfrm>
          <a:prstGeom prst="rect">
            <a:avLst/>
          </a:prstGeom>
        </p:spPr>
      </p:pic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ED3D6733-6F27-4404-AB51-585418F146E5}" type="datetimeFigureOut">
              <a:rPr lang="ko-KR" altLang="en-US" smtClean="0"/>
              <a:pPr/>
              <a:t>2025-11-17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EE6BC638-39B7-4287-91A7-2A3DDA57329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8" name="제목 1"/>
          <p:cNvSpPr>
            <a:spLocks noGrp="1"/>
          </p:cNvSpPr>
          <p:nvPr>
            <p:ph type="ctrTitle"/>
          </p:nvPr>
        </p:nvSpPr>
        <p:spPr>
          <a:xfrm>
            <a:off x="6199162" y="2528763"/>
            <a:ext cx="5394629" cy="2272246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9569" tIns="49785" rIns="99569" bIns="49785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r" defTabSz="99569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굴림체" pitchFamily="49" charset="-127"/>
              <a:buNone/>
              <a:defRPr lang="ko-KR" altLang="en-US" sz="7200" kern="1200" baseline="0" dirty="0">
                <a:solidFill>
                  <a:schemeClr val="bg1"/>
                </a:solidFill>
                <a:effectLst/>
                <a:latin typeface="+mj-lt"/>
                <a:ea typeface="맑은 고딕" pitchFamily="50" charset="-127"/>
                <a:cs typeface="+mj-cs"/>
              </a:defRPr>
            </a:lvl1pPr>
          </a:lstStyle>
          <a:p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521" y="19030"/>
            <a:ext cx="10971372" cy="797093"/>
          </a:xfrm>
          <a:prstGeom prst="rect">
            <a:avLst/>
          </a:prstGeom>
        </p:spPr>
        <p:txBody>
          <a:bodyPr vert="horz" lIns="99569" tIns="49785" rIns="99569" bIns="49785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21" y="1062267"/>
            <a:ext cx="10971372" cy="5287636"/>
          </a:xfrm>
          <a:prstGeom prst="rect">
            <a:avLst/>
          </a:prstGeom>
        </p:spPr>
        <p:txBody>
          <a:bodyPr vert="horz" lIns="99569" tIns="49785" rIns="99569" bIns="49785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21" y="6430887"/>
            <a:ext cx="2844430" cy="29214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3D6733-6F27-4404-AB51-585418F146E5}" type="datetimeFigureOut">
              <a:rPr lang="ko-KR" altLang="en-US" smtClean="0"/>
              <a:pPr/>
              <a:t>2025-11-17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059" y="6430887"/>
            <a:ext cx="3860297" cy="29214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6463" y="6430887"/>
            <a:ext cx="2844430" cy="29214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6BC638-39B7-4287-91A7-2A3DDA57329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1" r:id="rId3"/>
    <p:sldLayoutId id="2147483656" r:id="rId4"/>
    <p:sldLayoutId id="2147483650" r:id="rId5"/>
    <p:sldLayoutId id="2147483657" r:id="rId6"/>
  </p:sldLayoutIdLst>
  <p:txStyles>
    <p:titleStyle>
      <a:lvl1pPr algn="l" defTabSz="995690" rtl="0" eaLnBrk="1" latinLnBrk="1" hangingPunct="1">
        <a:spcBef>
          <a:spcPct val="0"/>
        </a:spcBef>
        <a:buNone/>
        <a:defRPr lang="ko-KR" altLang="en-US" sz="3800" kern="1200">
          <a:solidFill>
            <a:sysClr val="windowText" lastClr="000000"/>
          </a:solidFill>
          <a:latin typeface="맑은 고딕" pitchFamily="50" charset="-127"/>
          <a:ea typeface="맑은 고딕" pitchFamily="50" charset="-127"/>
          <a:cs typeface="+mj-cs"/>
        </a:defRPr>
      </a:lvl1pPr>
    </p:titleStyle>
    <p:bodyStyle>
      <a:lvl1pPr marL="373384" indent="-373384" algn="l" defTabSz="995690" rtl="0" eaLnBrk="1" latinLnBrk="1" hangingPunct="1">
        <a:spcBef>
          <a:spcPct val="20000"/>
        </a:spcBef>
        <a:buFont typeface="Arial" pitchFamily="34" charset="0"/>
        <a:buChar char="•"/>
        <a:defRPr lang="ko-KR" altLang="en-US" sz="2700" kern="1200" smtClean="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808998" indent="-311153" algn="l" defTabSz="995690" rtl="0" eaLnBrk="1" latinLnBrk="1" hangingPunct="1">
        <a:spcBef>
          <a:spcPct val="20000"/>
        </a:spcBef>
        <a:buFont typeface="Arial" pitchFamily="34" charset="0"/>
        <a:buChar char="–"/>
        <a:defRPr lang="ko-KR" altLang="en-US" sz="2000" kern="1200" smtClean="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2pPr>
      <a:lvl3pPr marL="1244613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lang="ko-KR" altLang="en-US" sz="2000" kern="1200" smtClean="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3pPr>
      <a:lvl4pPr marL="1742458" indent="-248923" algn="l" defTabSz="995690" rtl="0" eaLnBrk="1" latinLnBrk="1" hangingPunct="1">
        <a:spcBef>
          <a:spcPct val="20000"/>
        </a:spcBef>
        <a:buFont typeface="Arial" pitchFamily="34" charset="0"/>
        <a:buChar char="–"/>
        <a:defRPr lang="ko-KR" altLang="en-US" sz="2000" kern="1200" smtClean="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4pPr>
      <a:lvl5pPr marL="2240303" indent="-248923" algn="l" defTabSz="995690" rtl="0" eaLnBrk="1" latinLnBrk="1" hangingPunct="1">
        <a:spcBef>
          <a:spcPct val="20000"/>
        </a:spcBef>
        <a:buFont typeface="Arial" pitchFamily="34" charset="0"/>
        <a:buChar char="»"/>
        <a:defRPr lang="ko-KR" altLang="en-US" sz="20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5pPr>
      <a:lvl6pPr marL="2738148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35993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33838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31683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7845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5690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3535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91380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9225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87070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84916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82761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>
          <a:xfrm>
            <a:off x="5015086" y="2097646"/>
            <a:ext cx="6336704" cy="2664296"/>
          </a:xfrm>
        </p:spPr>
        <p:txBody>
          <a:bodyPr/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Pizza Sales Data Analysis Using SQL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191F6-804E-C58E-BC52-60C452652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76F2B-6426-F247-DFA3-2150F6C0A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C24867-30E0-5DC9-CC7D-7A0F69874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20" y="1485578"/>
            <a:ext cx="11174317" cy="4824535"/>
          </a:xfrm>
        </p:spPr>
        <p:txBody>
          <a:bodyPr>
            <a:normAutofit/>
          </a:bodyPr>
          <a:lstStyle/>
          <a:p>
            <a:pPr marL="0" indent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project focuses on analyzing the Pizza Sales dataset using SQL to understand business performance.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explores sales, orders, pizza categories, sizes, and revenue contribution.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Interconnected tables such as Orders,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Order_Details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Pizzas,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Pizza_Types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simulate real-world sales workflows.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SQL queries are used to extract, transform, and analyze sales patterns and performance metrics.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project strengthens concepts of database design, joins, normalization, and analytical SQL.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Through analysis, insights are gained on revenue distribution, peak order times, and best-selling pizzas.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overall goal is to support business decisions using data-driven insights.</a:t>
            </a:r>
          </a:p>
        </p:txBody>
      </p:sp>
    </p:spTree>
    <p:extLst>
      <p:ext uri="{BB962C8B-B14F-4D97-AF65-F5344CB8AC3E}">
        <p14:creationId xmlns:p14="http://schemas.microsoft.com/office/powerpoint/2010/main" val="3908177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739A2-5AC4-D5AA-AE82-753B3C0AA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Orders Table                                                                       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Pizzas Table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C9FC56-A51B-EEAB-65A3-FEF5E2831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Tables </a:t>
            </a:r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E4D67795-BA0F-FE55-6863-30B860E18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582" y="2061642"/>
            <a:ext cx="4608512" cy="13481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EB81382-9879-D5D7-DBEB-F74F8EE08D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7174" y="1937668"/>
            <a:ext cx="4968552" cy="13481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2A17557-930A-035F-1C90-FB634588F2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622" y="4424593"/>
            <a:ext cx="3896269" cy="159748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E540D9E-E148-BDAC-80CD-764F20C7900E}"/>
              </a:ext>
            </a:extLst>
          </p:cNvPr>
          <p:cNvSpPr txBox="1"/>
          <p:nvPr/>
        </p:nvSpPr>
        <p:spPr>
          <a:xfrm>
            <a:off x="861327" y="3897846"/>
            <a:ext cx="28083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Pizzas_type</a:t>
            </a:r>
            <a:r>
              <a:rPr lang="en-US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Table</a:t>
            </a:r>
            <a:endParaRPr lang="en-US" b="1" i="1" dirty="0">
              <a:solidFill>
                <a:schemeClr val="bg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BFE080C-8922-15FE-DBF4-AD237B7935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3417" y="4208571"/>
            <a:ext cx="4734317" cy="174150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FF1CC79-BCE9-E1D0-E913-84CA2BEA3810}"/>
              </a:ext>
            </a:extLst>
          </p:cNvPr>
          <p:cNvSpPr txBox="1"/>
          <p:nvPr/>
        </p:nvSpPr>
        <p:spPr>
          <a:xfrm>
            <a:off x="6311230" y="3754281"/>
            <a:ext cx="25922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Pizzas Table</a:t>
            </a:r>
            <a:endParaRPr lang="en-US" b="1" i="1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03727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B956E-EF77-A5A5-02B6-B04087177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FF131-CF95-95CE-696A-036CA9305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B924A6-F0D1-ACED-634B-1934B4E25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• Pizza businesses generate large amounts of daily sales data across orders, products, and pricing.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Without proper analysis, identifying best-selling pizzas or peak demand hours becomes difficult.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Manual review of data leads to inefficiency and incorrect revenue tracking.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business needs an SQL-driven system to analyze pizza demand, revenue distribution, and product performance.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SQL queries help visualize patterns, compare product categories, and understand customer demand behavior.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5928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92721-611F-FEC2-4523-60CF81EA2FE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78582" y="549474"/>
            <a:ext cx="7128791" cy="504626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Retrieve the total number of orders placed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6CB0A6-5BC1-4FF9-3A2C-8D29D1CB2228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5807174" y="4293890"/>
            <a:ext cx="2592288" cy="10206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15E0E1-86BF-341E-D814-DAEE4B96CA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606" y="1773610"/>
            <a:ext cx="5328592" cy="193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337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E3C7B97-09DF-454D-59DE-A6E9D5D52155}"/>
              </a:ext>
            </a:extLst>
          </p:cNvPr>
          <p:cNvSpPr txBox="1"/>
          <p:nvPr/>
        </p:nvSpPr>
        <p:spPr>
          <a:xfrm>
            <a:off x="-385514" y="405458"/>
            <a:ext cx="849694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Calculate the total revenue generated from </a:t>
            </a:r>
          </a:p>
          <a:p>
            <a:pPr algn="ctr"/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pizza sales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EB0C46-15F8-5FB2-605A-55603B464D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598" y="1917626"/>
            <a:ext cx="6912768" cy="20576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6F95770-C20A-93E6-4122-0C0DB742AA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7374" y="4221881"/>
            <a:ext cx="2160240" cy="95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2992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C87F0D4-BB26-D356-C9AB-DFBDF9324E81}"/>
              </a:ext>
            </a:extLst>
          </p:cNvPr>
          <p:cNvSpPr txBox="1"/>
          <p:nvPr/>
        </p:nvSpPr>
        <p:spPr>
          <a:xfrm>
            <a:off x="406574" y="477466"/>
            <a:ext cx="60928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Identify the highest-priced pizza.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FCD8CC-88D1-D216-B680-764B5CAE2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3318" y="4293890"/>
            <a:ext cx="2592288" cy="11521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9D2FB74-6154-559A-8D9B-611676CD35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590" y="1269554"/>
            <a:ext cx="7182852" cy="259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945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67AB6F-1283-D593-D33A-0EF4165691C6}"/>
              </a:ext>
            </a:extLst>
          </p:cNvPr>
          <p:cNvSpPr txBox="1"/>
          <p:nvPr/>
        </p:nvSpPr>
        <p:spPr>
          <a:xfrm>
            <a:off x="334566" y="477466"/>
            <a:ext cx="609289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Identify the most common pizza size ordered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41A10A-CC74-BE99-28B6-0B96CB468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310" y="4509914"/>
            <a:ext cx="3349808" cy="12955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4C1919-5F83-BE65-B3DF-E5C54ECF9C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590" y="1431573"/>
            <a:ext cx="7001852" cy="284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331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442EDD-BF12-CC6E-2A9F-07622CEDFDA4}"/>
              </a:ext>
            </a:extLst>
          </p:cNvPr>
          <p:cNvSpPr txBox="1"/>
          <p:nvPr/>
        </p:nvSpPr>
        <p:spPr>
          <a:xfrm>
            <a:off x="478582" y="405458"/>
            <a:ext cx="655272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List the top 5 most ordered pizza types along with their quantities.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7F6CA7-4AE5-3D72-BAA9-7EAB951E05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1768" y="4869954"/>
            <a:ext cx="3253526" cy="14575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249EBB-4A49-EAEB-F2F9-FE4D3F0B70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837" y="1485578"/>
            <a:ext cx="6992326" cy="3305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59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E2A7C3A-809C-5AEA-4A16-2928E0EBC44F}"/>
              </a:ext>
            </a:extLst>
          </p:cNvPr>
          <p:cNvSpPr txBox="1"/>
          <p:nvPr/>
        </p:nvSpPr>
        <p:spPr>
          <a:xfrm>
            <a:off x="406574" y="477466"/>
            <a:ext cx="698477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Join the </a:t>
            </a:r>
            <a:r>
              <a:rPr lang="en-US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neccessary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tables to find the total quantity of each pizza category ordered.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7F57F8-E36B-7466-BF4F-E2691DFBBE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598" y="1485578"/>
            <a:ext cx="7068536" cy="35533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D49DF33-9711-C322-A8AE-08B66271CD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7414" y="4869954"/>
            <a:ext cx="2664296" cy="1368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3715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31CD59-DFCF-7D6C-EF2C-59E0944A1907}"/>
              </a:ext>
            </a:extLst>
          </p:cNvPr>
          <p:cNvSpPr txBox="1"/>
          <p:nvPr/>
        </p:nvSpPr>
        <p:spPr>
          <a:xfrm>
            <a:off x="406574" y="549474"/>
            <a:ext cx="669674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Determine the distribution of orders by hour of the day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0820CB-29D8-1B93-4719-0C411018D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598" y="1781739"/>
            <a:ext cx="5112568" cy="19360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4AD17A-5615-7B9F-3B2B-8E3A03E8A3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182" y="4005858"/>
            <a:ext cx="2659140" cy="205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1123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F6A155-0119-07BF-AB13-BA86E963AB13}"/>
              </a:ext>
            </a:extLst>
          </p:cNvPr>
          <p:cNvSpPr txBox="1"/>
          <p:nvPr/>
        </p:nvSpPr>
        <p:spPr>
          <a:xfrm>
            <a:off x="694606" y="549474"/>
            <a:ext cx="734481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 Join relevant tables to find the category wise distribution  of pizzas.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BD098C-4D69-0B8A-777C-5802DD210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622" y="1789442"/>
            <a:ext cx="4464496" cy="18563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30259CA-FD53-C362-FBE3-9CD038F30B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1070" y="3933850"/>
            <a:ext cx="3168352" cy="12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161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A81FB89-5CC4-C105-6DBD-2EEA34A87364}"/>
              </a:ext>
            </a:extLst>
          </p:cNvPr>
          <p:cNvSpPr txBox="1"/>
          <p:nvPr/>
        </p:nvSpPr>
        <p:spPr>
          <a:xfrm>
            <a:off x="622598" y="549474"/>
            <a:ext cx="705678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9. Group the orders by date and calculate the average number of pizzas ordered per day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B33446-7D46-E1CB-8A56-A1E6646D54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606" y="1629594"/>
            <a:ext cx="7535327" cy="27816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433AA9-DB8A-039B-5A45-027ECF82D2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5406" y="4851742"/>
            <a:ext cx="2592288" cy="1026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0844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2EFB3D-1FC4-9640-F00C-546C8629A20E}"/>
              </a:ext>
            </a:extLst>
          </p:cNvPr>
          <p:cNvSpPr txBox="1"/>
          <p:nvPr/>
        </p:nvSpPr>
        <p:spPr>
          <a:xfrm>
            <a:off x="406574" y="477466"/>
            <a:ext cx="609289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10. Determine the top 3 most ordered pizza types based on revenue.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57A73B-B965-F5C0-23D2-A0EE33566F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590" y="1485578"/>
            <a:ext cx="7049484" cy="36676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7CA549-D301-35B2-5EAE-1EEA7CC16C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1390" y="5147519"/>
            <a:ext cx="3528392" cy="118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5935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3E8656-9E9C-7AB7-46CC-5C198E84AECC}"/>
              </a:ext>
            </a:extLst>
          </p:cNvPr>
          <p:cNvSpPr txBox="1"/>
          <p:nvPr/>
        </p:nvSpPr>
        <p:spPr>
          <a:xfrm>
            <a:off x="262558" y="333450"/>
            <a:ext cx="763284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11. Calculate the percentage contribution of each pizza type of </a:t>
            </a:r>
            <a:r>
              <a:rPr lang="en-US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total_revenue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B94A8A-12FA-6A3A-184F-6249850B05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8300" y="4221882"/>
            <a:ext cx="3200847" cy="17814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4497E5-193C-E4F2-851D-428F4355D2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582" y="1287557"/>
            <a:ext cx="6763694" cy="5077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8201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85BB231-EBDF-23C7-4CF4-81166E2EE0C9}"/>
              </a:ext>
            </a:extLst>
          </p:cNvPr>
          <p:cNvSpPr txBox="1"/>
          <p:nvPr/>
        </p:nvSpPr>
        <p:spPr>
          <a:xfrm>
            <a:off x="550590" y="405458"/>
            <a:ext cx="770485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12. Determine the top 3 most ordered pizza types based on revenue for each pizza category.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A8A58A-117A-C6B1-9978-530630894A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574" y="1485578"/>
            <a:ext cx="7744906" cy="48965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3ED8DF-C1A5-5FD1-B638-B107542137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5781" y="4149874"/>
            <a:ext cx="3458058" cy="213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8127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4649D-E65B-07E4-A451-2733CA2D7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BBAEE-718B-B13D-32DE-D5269EBE1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Peak Ordering Hours: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Orders increase significantly during lunch and dinner hours.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Performance: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Categories such as Classic and Supreme generate the highest revenue.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Best-Selling Items: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few pizza types dominate the total orders and revenue.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 Preference: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Medium and Large pizzas are ordered more frequently.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Trends: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Cumulative revenue shows consistent growth over days.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Earners: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Certain pizzas deliver disproportionate revenue, guiding promotional decisions.</a:t>
            </a:r>
          </a:p>
        </p:txBody>
      </p:sp>
    </p:spTree>
    <p:extLst>
      <p:ext uri="{BB962C8B-B14F-4D97-AF65-F5344CB8AC3E}">
        <p14:creationId xmlns:p14="http://schemas.microsoft.com/office/powerpoint/2010/main" val="40116073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C1EAE-9B5C-679D-E476-2E4603BDF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DCEED-FFBA-6897-D990-670F736C0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     • Promote high-selling pizzas and create combo offers to increase sales.</a:t>
            </a:r>
            <a:br>
              <a:rPr lang="en-US" dirty="0"/>
            </a:br>
            <a:r>
              <a:rPr lang="en-US" dirty="0"/>
              <a:t>• Maintain optimal stock of popular pizza categories and sizes.</a:t>
            </a:r>
            <a:br>
              <a:rPr lang="en-US" dirty="0"/>
            </a:br>
            <a:r>
              <a:rPr lang="en-US" dirty="0"/>
              <a:t>• Introduce discounts during non-peak hours to boost overall order volume.</a:t>
            </a:r>
            <a:br>
              <a:rPr lang="en-US" dirty="0"/>
            </a:br>
            <a:r>
              <a:rPr lang="en-US" dirty="0"/>
              <a:t>• Improve pricing strategy for premium pizzas to increase revenue share.</a:t>
            </a:r>
            <a:br>
              <a:rPr lang="en-US" dirty="0"/>
            </a:br>
            <a:r>
              <a:rPr lang="en-US" dirty="0"/>
              <a:t>• Continue SQL-based tracking of weekly/monthly trends to support future decisions.</a:t>
            </a:r>
          </a:p>
        </p:txBody>
      </p:sp>
    </p:spTree>
    <p:extLst>
      <p:ext uri="{BB962C8B-B14F-4D97-AF65-F5344CB8AC3E}">
        <p14:creationId xmlns:p14="http://schemas.microsoft.com/office/powerpoint/2010/main" val="11009084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76151-B0A9-E8BA-2193-86A1B8997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6085EC-EBFA-9875-5011-70DA5D547E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20" y="1485578"/>
            <a:ext cx="11174317" cy="4824535"/>
          </a:xfrm>
        </p:spPr>
        <p:txBody>
          <a:bodyPr/>
          <a:lstStyle/>
          <a:p>
            <a:r>
              <a:rPr lang="en-US" dirty="0"/>
              <a:t>       • The SQL-based Pizza Sales Analysis provides a complete view of sales performance.</a:t>
            </a:r>
            <a:br>
              <a:rPr lang="en-US" dirty="0"/>
            </a:br>
            <a:r>
              <a:rPr lang="en-US" dirty="0"/>
              <a:t>• Insights help improve decision-making, marketing strategies, and customer satisfaction.</a:t>
            </a:r>
            <a:br>
              <a:rPr lang="en-US" dirty="0"/>
            </a:br>
            <a:r>
              <a:rPr lang="en-US" dirty="0"/>
              <a:t>• Analytical SQL techniques such as Window Functions and CTEs enhanced the depth of insights.</a:t>
            </a:r>
            <a:br>
              <a:rPr lang="en-US" dirty="0"/>
            </a:br>
            <a:r>
              <a:rPr lang="en-US" dirty="0"/>
              <a:t>• The project demonstrates strong SQL skills and the ability to convert raw data into actionable insights.</a:t>
            </a:r>
          </a:p>
        </p:txBody>
      </p:sp>
    </p:spTree>
    <p:extLst>
      <p:ext uri="{BB962C8B-B14F-4D97-AF65-F5344CB8AC3E}">
        <p14:creationId xmlns:p14="http://schemas.microsoft.com/office/powerpoint/2010/main" val="4824933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ctrTitle"/>
          </p:nvPr>
        </p:nvSpPr>
        <p:spPr>
          <a:xfrm>
            <a:off x="7535366" y="2565697"/>
            <a:ext cx="3960440" cy="2232248"/>
          </a:xfrm>
        </p:spPr>
        <p:txBody>
          <a:bodyPr/>
          <a:lstStyle/>
          <a:p>
            <a:pPr algn="r"/>
            <a:r>
              <a:rPr lang="en-US" altLang="ko-K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</a:t>
            </a:r>
            <a:br>
              <a:rPr lang="en-US" altLang="ko-K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ko-K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endParaRPr lang="ko-KR" alt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사용자 지정 1">
      <a:majorFont>
        <a:latin typeface="Calibri"/>
        <a:ea typeface="맑은 고딕"/>
        <a:cs typeface=""/>
      </a:majorFont>
      <a:minorFont>
        <a:latin typeface="Calibri Light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12767</TotalTime>
  <Words>619</Words>
  <Application>Microsoft Office PowerPoint</Application>
  <PresentationFormat>Custom</PresentationFormat>
  <Paragraphs>30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Noto Sans</vt:lpstr>
      <vt:lpstr>Calibri Light</vt:lpstr>
      <vt:lpstr>굴림체</vt:lpstr>
      <vt:lpstr>Times New Roman</vt:lpstr>
      <vt:lpstr>맑은 고딕</vt:lpstr>
      <vt:lpstr>Office 테마</vt:lpstr>
      <vt:lpstr>Pizza Sales Data Analysis Using SQL</vt:lpstr>
      <vt:lpstr>Introduction</vt:lpstr>
      <vt:lpstr>Tables </vt:lpstr>
      <vt:lpstr>Problem Statement</vt:lpstr>
      <vt:lpstr>1. Retrieve the total number of orders placed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Insights</vt:lpstr>
      <vt:lpstr>Recommendations</vt:lpstr>
      <vt:lpstr>Conclusion</vt:lpstr>
      <vt:lpstr>THANK YOU</vt:lpstr>
    </vt:vector>
  </TitlesOfParts>
  <Manager>Slide Members</Manager>
  <Company>YESFORM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Members</dc:title>
  <dc:subject>Powerpoint Templates , Diagram, Chart, Google slides, Keynote</dc:subject>
  <dc:creator>Slide Members by HS.SEO</dc:creator>
  <cp:keywords>SlideMembers, ppt, PPT Templates, Presentation, Diagram, Chart, Yesform, Google slides, Keynote, Free Slides</cp:keywords>
  <dc:description>The copyright of this document is at Slide Members. Unauthorized copying may result in legal sanctions.</dc:description>
  <cp:lastModifiedBy>shilpa kondreddy</cp:lastModifiedBy>
  <cp:revision>1</cp:revision>
  <dcterms:created xsi:type="dcterms:W3CDTF">2010-02-01T08:03:16Z</dcterms:created>
  <dcterms:modified xsi:type="dcterms:W3CDTF">2025-11-17T11:41:22Z</dcterms:modified>
  <cp:category>www.slidemembers.com</cp:category>
</cp:coreProperties>
</file>